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57" r:id="rId5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25" d="100"/>
          <a:sy n="25" d="100"/>
        </p:scale>
        <p:origin x="355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78CE5-02B9-4503-9F68-2D222447E841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F0751-FB6C-43F7-9D44-0ED6074AA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16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E4D2-1C51-4F77-AAD8-F5038749282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C2E7-1A81-4DA3-AA8F-86BC612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4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E4D2-1C51-4F77-AAD8-F5038749282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C2E7-1A81-4DA3-AA8F-86BC612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52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>
                    <a:tint val="82000"/>
                  </a:schemeClr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82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82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E4D2-1C51-4F77-AAD8-F5038749282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C2E7-1A81-4DA3-AA8F-86BC612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8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E4D2-1C51-4F77-AAD8-F5038749282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C2E7-1A81-4DA3-AA8F-86BC612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872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E4D2-1C51-4F77-AAD8-F5038749282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C2E7-1A81-4DA3-AA8F-86BC612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07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E4D2-1C51-4F77-AAD8-F5038749282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C2E7-1A81-4DA3-AA8F-86BC612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10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E4D2-1C51-4F77-AAD8-F5038749282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C2E7-1A81-4DA3-AA8F-86BC612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94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E4D2-1C51-4F77-AAD8-F5038749282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C2E7-1A81-4DA3-AA8F-86BC612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54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E4D2-1C51-4F77-AAD8-F5038749282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C2E7-1A81-4DA3-AA8F-86BC612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44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E4D2-1C51-4F77-AAD8-F5038749282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C2E7-1A81-4DA3-AA8F-86BC612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05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5E4D2-1C51-4F77-AAD8-F5038749282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8C2E7-1A81-4DA3-AA8F-86BC612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89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95E4D2-1C51-4F77-AAD8-F5038749282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D8C2E7-1A81-4DA3-AA8F-86BC612B9D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622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hyperlink" Target="https://www.nsf.gov/awardsearch/showAward?AWD_ID=2247157&amp;HistoricalAwards=false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6" descr="The diagram illustrates a clustering analysis of 48 participants' attention patterns, categorized into four groups: ground-level focus, vertical/tree focus, decorative features, and a secondary pattern involving roads/paths.&#10;&#10;AI-generated content may be incorrect.">
            <a:extLst>
              <a:ext uri="{FF2B5EF4-FFF2-40B4-BE49-F238E27FC236}">
                <a16:creationId xmlns:a16="http://schemas.microsoft.com/office/drawing/2014/main" id="{B100CF11-F559-BE1C-04C8-D5D10D07B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27"/>
          <a:stretch>
            <a:fillRect/>
          </a:stretch>
        </p:blipFill>
        <p:spPr>
          <a:xfrm>
            <a:off x="20261243" y="15097125"/>
            <a:ext cx="9437119" cy="7375387"/>
          </a:xfrm>
          <a:prstGeom prst="rect">
            <a:avLst/>
          </a:prstGeom>
        </p:spPr>
      </p:pic>
      <p:pic>
        <p:nvPicPr>
          <p:cNvPr id="45" name="Picture 44" descr="The diagram illustrates a K-Means clustered comparison of viewer types, showing that Type A (ground-level focus) and Type B (vertical/tree focus) account for 39% and 29% of attention, respectively, with various elements like tall trees, buildings, and water bodies also influencing viewer focus.&#10;&#10;AI-generated content may be incorrect.">
            <a:extLst>
              <a:ext uri="{FF2B5EF4-FFF2-40B4-BE49-F238E27FC236}">
                <a16:creationId xmlns:a16="http://schemas.microsoft.com/office/drawing/2014/main" id="{375DDE05-172B-BE79-9B1B-7002141F3B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8689" y="22472512"/>
            <a:ext cx="10269863" cy="6265742"/>
          </a:xfrm>
          <a:prstGeom prst="rect">
            <a:avLst/>
          </a:prstGeom>
        </p:spPr>
      </p:pic>
      <p:pic>
        <p:nvPicPr>
          <p:cNvPr id="41" name="Picture 40" descr="The image presents a pie chart showing the distribution of attention people give to various landscape elements, with tall trees receiving the most attention (33.5%), followed by buildings (12.2%).&#10;&#10;AI-generated content may be incorrect.">
            <a:extLst>
              <a:ext uri="{FF2B5EF4-FFF2-40B4-BE49-F238E27FC236}">
                <a16:creationId xmlns:a16="http://schemas.microsoft.com/office/drawing/2014/main" id="{F9BE8660-4BDF-6EDE-E4B6-8A82875405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66" r="-1"/>
          <a:stretch>
            <a:fillRect/>
          </a:stretch>
        </p:blipFill>
        <p:spPr>
          <a:xfrm>
            <a:off x="11378995" y="15003966"/>
            <a:ext cx="8882248" cy="1384860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7A3C3D-E490-3706-DA22-AFCD4FC895B9}"/>
              </a:ext>
            </a:extLst>
          </p:cNvPr>
          <p:cNvSpPr/>
          <p:nvPr/>
        </p:nvSpPr>
        <p:spPr>
          <a:xfrm>
            <a:off x="830035" y="278087"/>
            <a:ext cx="42231129" cy="40366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717C7-9466-D0D0-6805-2FB4A7A9A611}"/>
              </a:ext>
            </a:extLst>
          </p:cNvPr>
          <p:cNvSpPr txBox="1"/>
          <p:nvPr/>
        </p:nvSpPr>
        <p:spPr>
          <a:xfrm>
            <a:off x="9239991" y="657112"/>
            <a:ext cx="253548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Where Do People Look? Eye-Tracking Analysis of Visual Attention in Landscape Photography</a:t>
            </a:r>
          </a:p>
          <a:p>
            <a:pPr algn="ctr"/>
            <a:r>
              <a:rPr lang="en-US" sz="4800" i="1" dirty="0">
                <a:solidFill>
                  <a:schemeClr val="bg1"/>
                </a:solidFill>
              </a:rPr>
              <a:t>A statistical and machine learning analysis of visual attention allocation in landscape perception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7" name="Picture 6" descr="A logo of a globe with a gold cogwheel&#10;&#10;AI-generated content may be incorrect.">
            <a:extLst>
              <a:ext uri="{FF2B5EF4-FFF2-40B4-BE49-F238E27FC236}">
                <a16:creationId xmlns:a16="http://schemas.microsoft.com/office/drawing/2014/main" id="{2C9AEA9B-46AE-F43C-ABC7-0BD5A532E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8897" y="434338"/>
            <a:ext cx="3005101" cy="3009321"/>
          </a:xfrm>
          <a:prstGeom prst="rect">
            <a:avLst/>
          </a:prstGeom>
        </p:spPr>
      </p:pic>
      <p:pic>
        <p:nvPicPr>
          <p:cNvPr id="8" name="Picture 7" descr="Disciplina&#10;&#10;AI-generated content may be incorrect.">
            <a:extLst>
              <a:ext uri="{FF2B5EF4-FFF2-40B4-BE49-F238E27FC236}">
                <a16:creationId xmlns:a16="http://schemas.microsoft.com/office/drawing/2014/main" id="{A235498C-C89F-7991-733E-C7B236825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061" y="528435"/>
            <a:ext cx="3005101" cy="3136041"/>
          </a:xfrm>
          <a:prstGeom prst="rect">
            <a:avLst/>
          </a:prstGeom>
        </p:spPr>
      </p:pic>
      <p:pic>
        <p:nvPicPr>
          <p:cNvPr id="9" name="Picture 8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902A4AE1-6B3D-A6DE-7A7F-BF5463113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65106" y="570026"/>
            <a:ext cx="7329045" cy="34719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48D7FC-88BE-EE06-1F1A-752B2238503F}"/>
              </a:ext>
            </a:extLst>
          </p:cNvPr>
          <p:cNvSpPr txBox="1"/>
          <p:nvPr/>
        </p:nvSpPr>
        <p:spPr>
          <a:xfrm>
            <a:off x="942854" y="2991333"/>
            <a:ext cx="88827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Danny Galvis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</a:rPr>
              <a:t>Faculty Mentor: Dr. Feng Qi​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1F07F0B-5056-086C-5181-231FC32D5FC0}"/>
              </a:ext>
            </a:extLst>
          </p:cNvPr>
          <p:cNvSpPr/>
          <p:nvPr/>
        </p:nvSpPr>
        <p:spPr>
          <a:xfrm>
            <a:off x="942854" y="4623240"/>
            <a:ext cx="8409956" cy="138956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725AE-8099-A6E4-89A5-2B16E3683D37}"/>
              </a:ext>
            </a:extLst>
          </p:cNvPr>
          <p:cNvSpPr txBox="1"/>
          <p:nvPr/>
        </p:nvSpPr>
        <p:spPr>
          <a:xfrm>
            <a:off x="952700" y="6195619"/>
            <a:ext cx="8872897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Landscape architects and urban designers often have to guess what will catch someone's eye in an outdoor space. This study replaces that guesswork with direct measurement: eye-tracking equipment recorded exactly where 48 people looked while viewing a shared set of landscape photos. The goal was to answer two questions:</a:t>
            </a:r>
          </a:p>
          <a:p>
            <a:pPr lvl="0"/>
            <a:r>
              <a:rPr lang="en-US" sz="3600" dirty="0"/>
              <a:t>Does visual attention depend more on the scene being viewed or on the individual person looking at it?</a:t>
            </a:r>
          </a:p>
          <a:p>
            <a:pPr lvl="0"/>
            <a:r>
              <a:rPr lang="en-US" sz="3600" dirty="0"/>
              <a:t>Are there measurably different types of viewers?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63FBF0-B0B6-0D43-3F66-CBB72265D22F}"/>
              </a:ext>
            </a:extLst>
          </p:cNvPr>
          <p:cNvSpPr/>
          <p:nvPr/>
        </p:nvSpPr>
        <p:spPr>
          <a:xfrm>
            <a:off x="14580756" y="4623240"/>
            <a:ext cx="11123039" cy="138956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DATA COLLECTION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0614F2-FF47-F88A-3252-FC3CADE455B4}"/>
              </a:ext>
            </a:extLst>
          </p:cNvPr>
          <p:cNvSpPr txBox="1"/>
          <p:nvPr/>
        </p:nvSpPr>
        <p:spPr>
          <a:xfrm>
            <a:off x="10505661" y="6195619"/>
            <a:ext cx="19273228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Data was collected using a Tobii eye tracker, which records where a person's gaze lands in real time. Tobii's software presented the landscape photos and logged gaze coordinates throughout each session, storing them across binary, XML, and SQLite project files.</a:t>
            </a:r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endParaRPr lang="en-US" sz="3600" dirty="0"/>
          </a:p>
          <a:p>
            <a:pPr marL="742950" lvl="0" indent="-742950">
              <a:buFont typeface="Arial" panose="020B0604020202020204" pitchFamily="34" charset="0"/>
              <a:buChar char="•"/>
            </a:pPr>
            <a:r>
              <a:rPr lang="en-US" sz="3600" dirty="0"/>
              <a:t>48 valid participants viewed a shared set of landscape photos while their gaze was tracked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Each photo had 22 pre-labeled Areas of Interest (AOIs) (e.g., Tall Trees, Sky, Buildings), later grouped into 6 broader categories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Gaze points were matched against these AOI regions to determine what was being looked at and for how long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This produced roughly 2,300 attention records across all participants and photos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0AE312F-47C7-BB9E-A1A7-F5F9576B7B79}"/>
              </a:ext>
            </a:extLst>
          </p:cNvPr>
          <p:cNvSpPr/>
          <p:nvPr/>
        </p:nvSpPr>
        <p:spPr>
          <a:xfrm>
            <a:off x="30318934" y="4623240"/>
            <a:ext cx="12075217" cy="138956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METHODS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BB69DB-261D-6A33-55E7-B2FAB12691D0}"/>
              </a:ext>
            </a:extLst>
          </p:cNvPr>
          <p:cNvSpPr txBox="1"/>
          <p:nvPr/>
        </p:nvSpPr>
        <p:spPr>
          <a:xfrm>
            <a:off x="29778889" y="6195619"/>
            <a:ext cx="1383345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Parsing: Python scripts extracted raw gaze coordinates and AOI polygon data from Tobii's binary/XML/SQLite project files.</a:t>
            </a:r>
          </a:p>
          <a:p>
            <a:pPr lvl="0"/>
            <a:endParaRPr lang="en-US" sz="36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Aggregation: Dwell time, gaze counts, and attention percentages computed per participant, per photo, and per AOI category.</a:t>
            </a:r>
          </a:p>
          <a:p>
            <a:pPr lvl="0"/>
            <a:endParaRPr lang="en-US" sz="36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Statistics: One-way </a:t>
            </a:r>
            <a:r>
              <a:rPr lang="en-US" sz="3600" b="1" dirty="0"/>
              <a:t>ANOVA</a:t>
            </a:r>
            <a:r>
              <a:rPr lang="en-US" sz="3600" dirty="0"/>
              <a:t> per AOI category, comparing variance explained by Site vs. by Participant.</a:t>
            </a:r>
          </a:p>
          <a:p>
            <a:pPr lvl="0"/>
            <a:endParaRPr lang="en-US" sz="3600" dirty="0"/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US" sz="3600" dirty="0"/>
              <a:t>Machine Learning: Each participant reduced to a 47-feature behavioral profile (mean + consistency of attention to each category, plus dwell time, AOI breadth, and attention entropy), then analyzed with </a:t>
            </a:r>
            <a:r>
              <a:rPr lang="en-US" sz="3600" b="1" dirty="0"/>
              <a:t>PCA</a:t>
            </a:r>
            <a:r>
              <a:rPr lang="en-US" sz="3600" dirty="0"/>
              <a:t> (dimensionality reduction), </a:t>
            </a:r>
            <a:r>
              <a:rPr lang="en-US" sz="3600" b="1" dirty="0"/>
              <a:t>K-Means</a:t>
            </a:r>
            <a:r>
              <a:rPr lang="en-US" sz="3600" dirty="0"/>
              <a:t>, and </a:t>
            </a:r>
            <a:r>
              <a:rPr lang="en-US" sz="3600" b="1" dirty="0"/>
              <a:t>Hierarchical</a:t>
            </a:r>
            <a:r>
              <a:rPr lang="en-US" sz="3600" dirty="0"/>
              <a:t> </a:t>
            </a:r>
            <a:r>
              <a:rPr lang="en-US" sz="3600" b="1" dirty="0"/>
              <a:t>Clustering</a:t>
            </a:r>
            <a:r>
              <a:rPr lang="en-US" sz="3600" dirty="0"/>
              <a:t> (unsupervised grouping).</a:t>
            </a:r>
          </a:p>
          <a:p>
            <a:endParaRPr lang="en-US" sz="3600" dirty="0"/>
          </a:p>
        </p:txBody>
      </p:sp>
      <p:pic>
        <p:nvPicPr>
          <p:cNvPr id="27" name="Picture 26" descr="O que é Eye Tracking. Conheça os diversos modelos da Tobii Pro.">
            <a:extLst>
              <a:ext uri="{FF2B5EF4-FFF2-40B4-BE49-F238E27FC236}">
                <a16:creationId xmlns:a16="http://schemas.microsoft.com/office/drawing/2014/main" id="{7BA8F7B8-3592-7643-C199-6F7EDC468E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9021" y="8251340"/>
            <a:ext cx="6014168" cy="2100949"/>
          </a:xfrm>
          <a:prstGeom prst="rect">
            <a:avLst/>
          </a:prstGeom>
        </p:spPr>
      </p:pic>
      <p:pic>
        <p:nvPicPr>
          <p:cNvPr id="28" name="Picture 27" descr="Home | 绿色校园 - 温州肯恩大学">
            <a:extLst>
              <a:ext uri="{FF2B5EF4-FFF2-40B4-BE49-F238E27FC236}">
                <a16:creationId xmlns:a16="http://schemas.microsoft.com/office/drawing/2014/main" id="{EC6843A5-B95D-055B-7F62-D88A7CDA99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666733" y="8251340"/>
            <a:ext cx="4130905" cy="2323634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32B6DCF-F828-B691-CF48-946FCDC5053F}"/>
              </a:ext>
            </a:extLst>
          </p:cNvPr>
          <p:cNvSpPr/>
          <p:nvPr/>
        </p:nvSpPr>
        <p:spPr>
          <a:xfrm>
            <a:off x="453032" y="14306619"/>
            <a:ext cx="30734174" cy="918816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RESULTS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1CC4942-27C3-905A-88A2-E621CCE73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858727"/>
              </p:ext>
            </p:extLst>
          </p:nvPr>
        </p:nvGraphicFramePr>
        <p:xfrm>
          <a:off x="3546788" y="15597342"/>
          <a:ext cx="7863008" cy="100080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2553">
                  <a:extLst>
                    <a:ext uri="{9D8B030D-6E8A-4147-A177-3AD203B41FA5}">
                      <a16:colId xmlns:a16="http://schemas.microsoft.com/office/drawing/2014/main" val="1257329368"/>
                    </a:ext>
                  </a:extLst>
                </a:gridCol>
                <a:gridCol w="1915348">
                  <a:extLst>
                    <a:ext uri="{9D8B030D-6E8A-4147-A177-3AD203B41FA5}">
                      <a16:colId xmlns:a16="http://schemas.microsoft.com/office/drawing/2014/main" val="2012605279"/>
                    </a:ext>
                  </a:extLst>
                </a:gridCol>
                <a:gridCol w="1915348">
                  <a:extLst>
                    <a:ext uri="{9D8B030D-6E8A-4147-A177-3AD203B41FA5}">
                      <a16:colId xmlns:a16="http://schemas.microsoft.com/office/drawing/2014/main" val="4270666291"/>
                    </a:ext>
                  </a:extLst>
                </a:gridCol>
                <a:gridCol w="2049759">
                  <a:extLst>
                    <a:ext uri="{9D8B030D-6E8A-4147-A177-3AD203B41FA5}">
                      <a16:colId xmlns:a16="http://schemas.microsoft.com/office/drawing/2014/main" val="1038276334"/>
                    </a:ext>
                  </a:extLst>
                </a:gridCol>
              </a:tblGrid>
              <a:tr h="231519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</a:rPr>
                        <a:t>Landscape</a:t>
                      </a:r>
                    </a:p>
                    <a:p>
                      <a:pPr marL="0" marR="0" algn="ctr">
                        <a:spcBef>
                          <a:spcPts val="100"/>
                        </a:spcBef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</a:rPr>
                        <a:t>Effect of the Person</a:t>
                      </a:r>
                    </a:p>
                    <a:p>
                      <a:pPr marL="0" marR="0" algn="ctr">
                        <a:spcBef>
                          <a:spcPts val="100"/>
                        </a:spcBef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</a:rPr>
                        <a:t>(F-value)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</a:rPr>
                        <a:t>Effect of the Photo</a:t>
                      </a:r>
                    </a:p>
                    <a:p>
                      <a:pPr marL="0" marR="0" algn="ctr">
                        <a:spcBef>
                          <a:spcPts val="100"/>
                        </a:spcBef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</a:rPr>
                        <a:t>(F-value)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  <a:effectLst/>
                        </a:rPr>
                        <a:t>Bigger Effect</a:t>
                      </a:r>
                      <a:endParaRPr lang="en-US" sz="28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576810"/>
                  </a:ext>
                </a:extLst>
              </a:tr>
              <a:tr h="23013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800" dirty="0">
                          <a:effectLst/>
                        </a:rPr>
                        <a:t>Farmland / crops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0.17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not significant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346.9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p &lt; .001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The Photo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/>
                </a:tc>
                <a:extLst>
                  <a:ext uri="{0D108BD9-81ED-4DB2-BD59-A6C34878D82A}">
                    <a16:rowId xmlns:a16="http://schemas.microsoft.com/office/drawing/2014/main" val="2019387296"/>
                  </a:ext>
                </a:extLst>
              </a:tr>
              <a:tr h="230130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800" dirty="0">
                          <a:effectLst/>
                        </a:rPr>
                        <a:t>Aquatic plants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0.63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not significant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139.2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p &lt; .001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The Photo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/>
                </a:tc>
                <a:extLst>
                  <a:ext uri="{0D108BD9-81ED-4DB2-BD59-A6C34878D82A}">
                    <a16:rowId xmlns:a16="http://schemas.microsoft.com/office/drawing/2014/main" val="2719192267"/>
                  </a:ext>
                </a:extLst>
              </a:tr>
              <a:tr h="1322579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800" dirty="0">
                          <a:effectLst/>
                        </a:rPr>
                        <a:t>Buildings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1.69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p &lt; .01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120.7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p &lt; .001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The Photo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/>
                </a:tc>
                <a:extLst>
                  <a:ext uri="{0D108BD9-81ED-4DB2-BD59-A6C34878D82A}">
                    <a16:rowId xmlns:a16="http://schemas.microsoft.com/office/drawing/2014/main" val="2264708114"/>
                  </a:ext>
                </a:extLst>
              </a:tr>
              <a:tr h="176766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2800">
                          <a:effectLst/>
                        </a:rPr>
                        <a:t>Sky (the exception)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22.2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p &lt; .001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7.4</a:t>
                      </a:r>
                    </a:p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p &lt; .001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800" dirty="0">
                          <a:effectLst/>
                        </a:rPr>
                        <a:t>The Person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3500" marR="63500" marT="76200" marB="76200" anchor="ctr"/>
                </a:tc>
                <a:extLst>
                  <a:ext uri="{0D108BD9-81ED-4DB2-BD59-A6C34878D82A}">
                    <a16:rowId xmlns:a16="http://schemas.microsoft.com/office/drawing/2014/main" val="3985449698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6F623FA1-E450-30C3-F9CC-7A2351EBFE8F}"/>
              </a:ext>
            </a:extLst>
          </p:cNvPr>
          <p:cNvSpPr txBox="1"/>
          <p:nvPr/>
        </p:nvSpPr>
        <p:spPr>
          <a:xfrm>
            <a:off x="82488" y="15684428"/>
            <a:ext cx="3564980" cy="1666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3600" dirty="0">
                <a:effectLst/>
                <a:ea typeface="Times New Roman" panose="02020603050405020304" pitchFamily="18" charset="0"/>
              </a:rPr>
              <a:t>For each landscape feature, a statistical test (</a:t>
            </a:r>
            <a:r>
              <a:rPr lang="en-US" sz="3600" b="1" dirty="0">
                <a:effectLst/>
                <a:ea typeface="Times New Roman" panose="02020603050405020304" pitchFamily="18" charset="0"/>
              </a:rPr>
              <a:t>ANOVA</a:t>
            </a:r>
            <a:r>
              <a:rPr lang="en-US" sz="3600" dirty="0">
                <a:effectLst/>
                <a:ea typeface="Times New Roman" panose="02020603050405020304" pitchFamily="18" charset="0"/>
              </a:rPr>
              <a:t>) measured whether attention was explained more by which photo was shown or by who was viewing it. A higher </a:t>
            </a:r>
            <a:r>
              <a:rPr lang="en-US" sz="3600" b="1" dirty="0">
                <a:effectLst/>
                <a:ea typeface="Times New Roman" panose="02020603050405020304" pitchFamily="18" charset="0"/>
              </a:rPr>
              <a:t>F-value</a:t>
            </a:r>
            <a:r>
              <a:rPr lang="en-US" sz="3600" dirty="0">
                <a:effectLst/>
                <a:ea typeface="Times New Roman" panose="02020603050405020304" pitchFamily="18" charset="0"/>
              </a:rPr>
              <a:t> means that factor had a bigger effect. For 21 of 22 features, the photo had the bigger effect. Sky was the exception, where the person had the bigger effect.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FBFED6-7A0F-F776-2A52-533C6A4BE2AB}"/>
              </a:ext>
            </a:extLst>
          </p:cNvPr>
          <p:cNvSpPr txBox="1"/>
          <p:nvPr/>
        </p:nvSpPr>
        <p:spPr>
          <a:xfrm>
            <a:off x="3683682" y="25750848"/>
            <a:ext cx="5556310" cy="6622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3200" i="1" dirty="0">
                <a:ea typeface="Times New Roman" panose="02020603050405020304" pitchFamily="18" charset="0"/>
              </a:rPr>
              <a:t>Table 1. F-value = a measure of how strongly that factor affected attention; higher means a bigger effect. p-value = how confident we can be the effect is real (smaller = more confident; "not significant" means the effect could be due to chance).</a:t>
            </a:r>
            <a:endParaRPr lang="en-US" sz="3200" dirty="0">
              <a:ea typeface="Times New Roman" panose="02020603050405020304" pitchFamily="18" charset="0"/>
            </a:endParaRP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sz="3200" i="1" dirty="0">
                <a:ea typeface="Times New Roman" panose="02020603050405020304" pitchFamily="18" charset="0"/>
              </a:rPr>
              <a:t>Highlighted cell in each row shows which factor — the photo or the person — had the bigger, more reliable effect.</a:t>
            </a:r>
            <a:endParaRPr lang="en-US" sz="3200" dirty="0">
              <a:ea typeface="Times New Roman" panose="02020603050405020304" pitchFamily="18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D841FE6-B98E-9AD2-C2C1-051F869F63FC}"/>
              </a:ext>
            </a:extLst>
          </p:cNvPr>
          <p:cNvSpPr/>
          <p:nvPr/>
        </p:nvSpPr>
        <p:spPr>
          <a:xfrm>
            <a:off x="33000179" y="14248330"/>
            <a:ext cx="7038474" cy="102802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b="1" dirty="0"/>
              <a:t>CONCLUSION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2E37B7-983B-4709-0522-CE9320C9425C}"/>
              </a:ext>
            </a:extLst>
          </p:cNvPr>
          <p:cNvSpPr txBox="1"/>
          <p:nvPr/>
        </p:nvSpPr>
        <p:spPr>
          <a:xfrm>
            <a:off x="30927546" y="15954796"/>
            <a:ext cx="11536135" cy="112030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3800" dirty="0"/>
              <a:t>The landscape, not the person, drives visual attention — the specific photo explained far more variation than who was viewing it.</a:t>
            </a:r>
          </a:p>
          <a:p>
            <a:pPr lvl="0"/>
            <a:endParaRPr lang="en-US" sz="3800" dirty="0"/>
          </a:p>
          <a:p>
            <a:pPr lvl="0"/>
            <a:r>
              <a:rPr lang="en-US" sz="3800" dirty="0"/>
              <a:t>Tall trees are the single strongest visual anchor, capturing about a third of all attention.</a:t>
            </a:r>
          </a:p>
          <a:p>
            <a:pPr lvl="0"/>
            <a:endParaRPr lang="en-US" sz="3800" dirty="0"/>
          </a:p>
          <a:p>
            <a:pPr lvl="0"/>
            <a:r>
              <a:rPr lang="en-US" sz="3800" dirty="0"/>
              <a:t>Two loose viewer styles exist (ground-focused vs. tree-focused), but most people fall in between.</a:t>
            </a:r>
          </a:p>
          <a:p>
            <a:pPr lvl="0"/>
            <a:endParaRPr lang="en-US" sz="3800" dirty="0"/>
          </a:p>
          <a:p>
            <a:pPr lvl="0"/>
            <a:r>
              <a:rPr lang="en-US" sz="3800" dirty="0"/>
              <a:t>Sky is the one exception — how much someone looks up is personal habit, not scene-driven.</a:t>
            </a:r>
          </a:p>
          <a:p>
            <a:pPr lvl="0"/>
            <a:r>
              <a:rPr lang="en-US" sz="3800" dirty="0"/>
              <a:t>Overall, attention was overwhelmingly nature-oriented (~60% vegetation vs. ~23% built).</a:t>
            </a:r>
          </a:p>
          <a:p>
            <a:endParaRPr lang="en-US" sz="3800" b="1" dirty="0"/>
          </a:p>
          <a:p>
            <a:r>
              <a:rPr lang="en-US" sz="3800" b="1" dirty="0"/>
              <a:t>Takeaway:</a:t>
            </a:r>
            <a:r>
              <a:rPr lang="en-US" sz="3800" dirty="0"/>
              <a:t> Designers should prioritize tall trees and vertical greenery — it reliably captures attention across nearly any visitor.</a:t>
            </a:r>
          </a:p>
          <a:p>
            <a:endParaRPr lang="en-US" sz="38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6BE38686-269F-B1FF-33EB-B24FE3A2161A}"/>
              </a:ext>
            </a:extLst>
          </p:cNvPr>
          <p:cNvSpPr/>
          <p:nvPr/>
        </p:nvSpPr>
        <p:spPr>
          <a:xfrm>
            <a:off x="33176376" y="26933397"/>
            <a:ext cx="7579737" cy="1235021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sz="5400" b="1" dirty="0"/>
              <a:t>ACKNOWLEDGMENTS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70FB2E-54DA-300D-D237-8ABD335BE014}"/>
              </a:ext>
            </a:extLst>
          </p:cNvPr>
          <p:cNvSpPr txBox="1"/>
          <p:nvPr/>
        </p:nvSpPr>
        <p:spPr>
          <a:xfrm>
            <a:off x="31316684" y="28290970"/>
            <a:ext cx="107578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The work reported in this poster was supported by the Kean University Scholars Academy, funded by </a:t>
            </a:r>
            <a:r>
              <a:rPr lang="en-US" sz="3600" b="1" u="sng" dirty="0">
                <a:hlinkClick r:id="rId10"/>
              </a:rPr>
              <a:t>NSF Award #2247157</a:t>
            </a:r>
            <a:r>
              <a:rPr lang="en-US" sz="3600" dirty="0"/>
              <a:t> Improving Undergraduate STEM Education at Hispanic-Serving Institutions (IUSE HSI)-- Institutional Transformation Project: </a:t>
            </a:r>
            <a:r>
              <a:rPr lang="en-US" sz="3600" b="1" dirty="0"/>
              <a:t>Fostering Communities of Practice through Research and Peer Mentoring.</a:t>
            </a:r>
            <a:endParaRPr lang="en-US" sz="3600" dirty="0"/>
          </a:p>
        </p:txBody>
      </p:sp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9712E22B-02F9-12C8-F72F-93B9E39977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299903"/>
              </p:ext>
            </p:extLst>
          </p:nvPr>
        </p:nvGraphicFramePr>
        <p:xfrm>
          <a:off x="9414162" y="28891607"/>
          <a:ext cx="21528368" cy="3870960"/>
        </p:xfrm>
        <a:graphic>
          <a:graphicData uri="http://schemas.openxmlformats.org/drawingml/2006/table">
            <a:tbl>
              <a:tblPr/>
              <a:tblGrid>
                <a:gridCol w="4543743">
                  <a:extLst>
                    <a:ext uri="{9D8B030D-6E8A-4147-A177-3AD203B41FA5}">
                      <a16:colId xmlns:a16="http://schemas.microsoft.com/office/drawing/2014/main" val="4096213921"/>
                    </a:ext>
                  </a:extLst>
                </a:gridCol>
                <a:gridCol w="16984625">
                  <a:extLst>
                    <a:ext uri="{9D8B030D-6E8A-4147-A177-3AD203B41FA5}">
                      <a16:colId xmlns:a16="http://schemas.microsoft.com/office/drawing/2014/main" val="278551183"/>
                    </a:ext>
                  </a:extLst>
                </a:gridCol>
              </a:tblGrid>
              <a:tr h="4072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482766"/>
                  </a:ext>
                </a:extLst>
              </a:tr>
              <a:tr h="10061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/>
                        <a:t>PCA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Machine learning method that simplifies many measurements per person into just a couple of overall scores, so people can be plotted and compared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914564"/>
                  </a:ext>
                </a:extLst>
              </a:tr>
              <a:tr h="1006107">
                <a:tc>
                  <a:txBody>
                    <a:bodyPr/>
                    <a:lstStyle/>
                    <a:p>
                      <a:r>
                        <a:rPr lang="en-US" sz="3200" b="1" dirty="0"/>
                        <a:t>K-Means Clustering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Machine learning method that automatically groups people by similar behavior, without being told what the groups should look like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395147"/>
                  </a:ext>
                </a:extLst>
              </a:tr>
              <a:tr h="255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/>
                        <a:t>ANOVA</a:t>
                      </a:r>
                      <a:endParaRPr lang="en-US" sz="3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A test for whether a factor (photo vs. person) had a real effect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7057690"/>
                  </a:ext>
                </a:extLst>
              </a:tr>
              <a:tr h="546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b="1" dirty="0"/>
                        <a:t>Hierarchical Clustering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A second, independent clustering method used to double-check the K-Means groups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69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652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686baea-00e7-4f45-bb07-a22cd1ae1c0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2A2907937FE140AD10DAD0707BADC6" ma:contentTypeVersion="12" ma:contentTypeDescription="Create a new document." ma:contentTypeScope="" ma:versionID="98b5a71625552979a3326ff2e7edf9c3">
  <xsd:schema xmlns:xsd="http://www.w3.org/2001/XMLSchema" xmlns:xs="http://www.w3.org/2001/XMLSchema" xmlns:p="http://schemas.microsoft.com/office/2006/metadata/properties" xmlns:ns3="a686baea-00e7-4f45-bb07-a22cd1ae1c09" targetNamespace="http://schemas.microsoft.com/office/2006/metadata/properties" ma:root="true" ma:fieldsID="bb26ee377c81156ec1d7367458c011e1" ns3:_="">
    <xsd:import namespace="a686baea-00e7-4f45-bb07-a22cd1ae1c0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  <xsd:element ref="ns3:MediaServiceLocatio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86baea-00e7-4f45-bb07-a22cd1ae1c0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EA68AC-E6B5-4809-BE8B-4220E2024146}">
  <ds:schemaRefs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  <ds:schemaRef ds:uri="a686baea-00e7-4f45-bb07-a22cd1ae1c09"/>
  </ds:schemaRefs>
</ds:datastoreItem>
</file>

<file path=customXml/itemProps2.xml><?xml version="1.0" encoding="utf-8"?>
<ds:datastoreItem xmlns:ds="http://schemas.openxmlformats.org/officeDocument/2006/customXml" ds:itemID="{5DEA085A-5277-45F0-9900-EB21ED1830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D19563-FBB1-47C0-BDCA-94C3997FA9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686baea-00e7-4f45-bb07-a22cd1ae1c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1262</TotalTime>
  <Words>808</Words>
  <Application>Microsoft Office PowerPoint</Application>
  <PresentationFormat>Custom</PresentationFormat>
  <Paragraphs>85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Galvis (Student)</dc:creator>
  <cp:lastModifiedBy>Danny Galvis (Student)</cp:lastModifiedBy>
  <cp:revision>3</cp:revision>
  <dcterms:created xsi:type="dcterms:W3CDTF">2026-08-13T17:33:04Z</dcterms:created>
  <dcterms:modified xsi:type="dcterms:W3CDTF">2026-08-14T15:50:31Z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0x0101002F2A2907937FE140AD10DAD0707BADC6</vt:lpwstr>
  </property>
</Properties>
</file>